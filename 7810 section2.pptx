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6"/>
  </p:notesMasterIdLst>
  <p:sldIdLst>
    <p:sldId id="256" r:id="rId3"/>
    <p:sldId id="257" r:id="rId4"/>
    <p:sldId id="258"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howGuides="1">
      <p:cViewPr varScale="1">
        <p:scale>
          <a:sx n="121" d="100"/>
          <a:sy n="121" d="100"/>
        </p:scale>
        <p:origin x="22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Hello everyone, today I will present our exploration and analysis report on IT and finance industry recruitment data in Hong Kong. This report aims to reveal the current characteristics and trends of the recruitment market in these two core industries in Hong Kong through in-depth data mining.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First, let's take a look at the basic data situation. The data for this analysis is sourced from Hong Kong recruitment platforms, covering IT and Finance industry job postings from November 2025 to February 2026, totaling 2,626 records.</a:t>
            </a:r>
          </a:p>
          <a:p>
            <a:pPr indent="0" algn="l">
              <a:lnSpc>
                <a:spcPct val="100000"/>
              </a:lnSpc>
            </a:pPr>
            <a:r>
              <a:rPr lang="en-US" sz="1400" b="0" i="0" u="none" strike="noStrike">
                <a:solidFill>
                  <a:srgbClr val="000000"/>
                </a:solidFill>
              </a:rPr>
              <a:t>Regarding data quality, core business fields such as job title, location, and posting time are very complete. However, the salary information has a high missing rate, which is a common phenomenon in recruitment data. Additionally, we checked for outliers in the data and found no significant anomalies in terms of time, category, or salary, indicating that the data quality is generally reliable.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Next, let's analyze the data distribution. In terms of industry distribution, the recruitment scales of IT and Finance are quite similar. In terms of time, recruitment volume shows a steady upward trend. In terms of employment type, full-time positions account for an absolute majority. Work locations are highly concentrated in Hong Kong's core business districts. Finally, we summarize this data exploration: the overall data integrity and validity are good, clearly showing the characteristics of Hong Kong's IT and Finance industry recruitment market, laying a solid foundation for subsequent in-depth analysis. That's the end of my presentation, thank you 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1.jpe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2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47A1">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294290"/>
            <a:ext cx="12192000" cy="6858000"/>
          </a:xfrm>
          <a:prstGeom prst="roundRect">
            <a:avLst>
              <a:gd name="adj" fmla="val 0"/>
            </a:avLst>
          </a:prstGeom>
          <a:solidFill>
            <a:srgbClr val="0D47A1">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76200"/>
          </a:xfrm>
          <a:prstGeom prst="roundRect">
            <a:avLst>
              <a:gd name="adj" fmla="val 0"/>
            </a:avLst>
          </a:prstGeom>
          <a:solidFill>
            <a:srgbClr val="BBDE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34925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1" i="0" u="none" strike="noStrike" dirty="0">
                <a:solidFill>
                  <a:srgbClr val="FFFFFF"/>
                </a:solidFill>
                <a:latin typeface="Noto Sans SC"/>
                <a:ea typeface="Noto Sans SC"/>
                <a:cs typeface="Noto Sans SC"/>
                <a:sym typeface="Noto Sans SC"/>
              </a:rPr>
              <a:t>Data Exploration and Analysis </a:t>
            </a:r>
            <a:endParaRPr lang="en-US" sz="2400" b="1" dirty="0">
              <a:solidFill>
                <a:srgbClr val="FFFFFF"/>
              </a:solidFill>
              <a:latin typeface="Noto Sans SC"/>
              <a:ea typeface="Noto Sans SC"/>
              <a:cs typeface="Noto Sans SC"/>
              <a:sym typeface="Noto Sans SC"/>
            </a:endParaRPr>
          </a:p>
          <a:p>
            <a:pPr indent="0" algn="ctr">
              <a:lnSpc>
                <a:spcPct val="125000"/>
              </a:lnSpc>
              <a:defRPr/>
            </a:pPr>
            <a:r>
              <a:rPr lang="en-US" sz="2400" b="1" i="0" u="none" strike="noStrike" dirty="0">
                <a:solidFill>
                  <a:srgbClr val="FFFFFF"/>
                </a:solidFill>
                <a:latin typeface="Noto Sans SC"/>
                <a:ea typeface="Noto Sans SC"/>
                <a:cs typeface="Noto Sans SC"/>
                <a:sym typeface="Noto Sans SC"/>
              </a:rPr>
              <a:t> Li </a:t>
            </a:r>
            <a:r>
              <a:rPr lang="en-US" sz="2400" b="1" i="0" u="none" strike="noStrike" dirty="0" err="1">
                <a:solidFill>
                  <a:srgbClr val="FFFFFF"/>
                </a:solidFill>
                <a:latin typeface="Noto Sans SC"/>
                <a:ea typeface="Noto Sans SC"/>
                <a:cs typeface="Noto Sans SC"/>
                <a:sym typeface="Noto Sans SC"/>
              </a:rPr>
              <a:t>Yingdong</a:t>
            </a:r>
            <a:r>
              <a:rPr lang="en-US" sz="2400" b="1" i="0" u="none" strike="noStrike" dirty="0">
                <a:solidFill>
                  <a:srgbClr val="FFFFFF"/>
                </a:solidFill>
                <a:latin typeface="Noto Sans SC"/>
                <a:ea typeface="Noto Sans SC"/>
                <a:cs typeface="Noto Sans SC"/>
                <a:sym typeface="Noto Sans SC"/>
              </a:rPr>
              <a:t> (25421336)</a:t>
            </a:r>
            <a:endParaRPr lang="en-US" sz="1100" dirty="0"/>
          </a:p>
        </p:txBody>
      </p:sp>
      <p:sp>
        <p:nvSpPr>
          <p:cNvPr id="6" name="AutoShape 6"/>
          <p:cNvSpPr/>
          <p:nvPr/>
        </p:nvSpPr>
        <p:spPr>
          <a:xfrm>
            <a:off x="5715000" y="3175000"/>
            <a:ext cx="762000" cy="50800"/>
          </a:xfrm>
          <a:prstGeom prst="roundRect">
            <a:avLst>
              <a:gd name="adj" fmla="val 0"/>
            </a:avLst>
          </a:prstGeom>
          <a:solidFill>
            <a:srgbClr val="BBDE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110593" y="2448910"/>
            <a:ext cx="10160000" cy="508000"/>
          </a:xfrm>
          <a:prstGeom prst="rect">
            <a:avLst/>
          </a:prstGeom>
          <a:noFill/>
          <a:ln w="12700" cap="flat" cmpd="sng">
            <a:noFill/>
            <a:prstDash val="solid"/>
            <a:round/>
          </a:ln>
        </p:spPr>
        <p:txBody>
          <a:bodyPr vert="horz" wrap="none" lIns="0" tIns="0" rIns="0" bIns="0" rtlCol="0" anchor="t" anchorCtr="0"/>
          <a:lstStyle/>
          <a:p>
            <a:pPr indent="0" algn="ctr">
              <a:lnSpc>
                <a:spcPct val="125000"/>
              </a:lnSpc>
              <a:defRPr/>
            </a:pPr>
            <a:r>
              <a:rPr lang="en-US" sz="3200" b="0" i="0" u="none" strike="noStrike" dirty="0">
                <a:solidFill>
                  <a:srgbClr val="E0F2FE"/>
                </a:solidFill>
                <a:latin typeface="Noto Sans SC"/>
                <a:ea typeface="Noto Sans SC"/>
                <a:cs typeface="Noto Sans SC"/>
                <a:sym typeface="Noto Sans SC"/>
              </a:rPr>
              <a:t>Analysis of IT and Finance Industry Recruitment Data in Hong Kong</a:t>
            </a:r>
            <a:endParaRPr lang="en-US" sz="3200" dirty="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1651000"/>
            <a:ext cx="406400" cy="40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254000"/>
            <a:ext cx="12192000" cy="6858000"/>
          </a:xfrm>
          <a:prstGeom prst="rect">
            <a:avLst/>
          </a:prstGeom>
          <a:noFill/>
          <a:ln w="25400" cap="flat" cmpd="sng">
            <a:noFill/>
            <a:prstDash val="solid"/>
            <a:round/>
          </a:ln>
        </p:spPr>
      </p:pic>
      <p:sp>
        <p:nvSpPr>
          <p:cNvPr id="3" name="AutoShape 3"/>
          <p:cNvSpPr/>
          <p:nvPr/>
        </p:nvSpPr>
        <p:spPr>
          <a:xfrm>
            <a:off x="762000" y="381000"/>
            <a:ext cx="1016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dirty="0">
                <a:solidFill>
                  <a:srgbClr val="0D47A1"/>
                </a:solidFill>
                <a:latin typeface="Noto Sans SC"/>
                <a:ea typeface="Noto Sans SC"/>
                <a:cs typeface="Noto Sans SC"/>
                <a:sym typeface="Noto Sans SC"/>
              </a:rPr>
              <a:t>Data Overview and Quality Analysis</a:t>
            </a:r>
            <a:endParaRPr lang="en-US" sz="1100" dirty="0"/>
          </a:p>
        </p:txBody>
      </p:sp>
      <p:sp>
        <p:nvSpPr>
          <p:cNvPr id="4" name="AutoShape 4"/>
          <p:cNvSpPr/>
          <p:nvPr/>
        </p:nvSpPr>
        <p:spPr>
          <a:xfrm>
            <a:off x="762000" y="1270000"/>
            <a:ext cx="5080000" cy="4572000"/>
          </a:xfrm>
          <a:prstGeom prst="roundRect">
            <a:avLst>
              <a:gd name="adj" fmla="val 2777"/>
            </a:avLst>
          </a:prstGeom>
          <a:solidFill>
            <a:srgbClr val="FFFFFF">
              <a:alpha val="90000"/>
            </a:srgbClr>
          </a:solidFill>
          <a:ln w="25400" cap="flat" cmpd="sng">
            <a:noFill/>
            <a:prstDash val="solid"/>
            <a:round/>
          </a:ln>
          <a:effectLst>
            <a:outerShdw blurRad="127000" dist="50800" dir="5400000" algn="tl" rotWithShape="0">
              <a:srgbClr val="0D47A1">
                <a:alpha val="1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498600"/>
            <a:ext cx="304800" cy="304800"/>
          </a:xfrm>
          <a:prstGeom prst="rect">
            <a:avLst/>
          </a:prstGeom>
        </p:spPr>
      </p:pic>
      <p:sp>
        <p:nvSpPr>
          <p:cNvPr id="6" name="AutoShape 6"/>
          <p:cNvSpPr/>
          <p:nvPr/>
        </p:nvSpPr>
        <p:spPr>
          <a:xfrm>
            <a:off x="1397000" y="146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47A1"/>
                </a:solidFill>
                <a:latin typeface="Noto Sans SC"/>
                <a:ea typeface="Noto Sans SC"/>
                <a:cs typeface="Noto Sans SC"/>
                <a:sym typeface="Noto Sans SC"/>
              </a:rPr>
              <a:t>Data Basic Overview</a:t>
            </a:r>
            <a:endParaRPr lang="en-US" sz="1100"/>
          </a:p>
        </p:txBody>
      </p:sp>
      <p:sp>
        <p:nvSpPr>
          <p:cNvPr id="7" name="AutoShape 7"/>
          <p:cNvSpPr/>
          <p:nvPr/>
        </p:nvSpPr>
        <p:spPr>
          <a:xfrm>
            <a:off x="1016000" y="1968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0A4AE"/>
                </a:solidFill>
                <a:latin typeface="Noto Sans SC"/>
                <a:ea typeface="Noto Sans SC"/>
                <a:cs typeface="Noto Sans SC"/>
                <a:sym typeface="Noto Sans SC"/>
              </a:rPr>
              <a:t>Data Source:</a:t>
            </a:r>
            <a:r>
              <a:rPr lang="en-US" sz="1200" b="0" i="0" u="none" strike="noStrike">
                <a:solidFill>
                  <a:srgbClr val="37474F"/>
                </a:solidFill>
                <a:latin typeface="Noto Sans SC"/>
                <a:ea typeface="Noto Sans SC"/>
                <a:cs typeface="Noto Sans SC"/>
                <a:sym typeface="Noto Sans SC"/>
              </a:rPr>
              <a:t>Crawled from IT and Finance recruitment platforms in Hong Kong</a:t>
            </a:r>
            <a:endParaRPr lang="en-US" sz="1100"/>
          </a:p>
        </p:txBody>
      </p:sp>
      <p:sp>
        <p:nvSpPr>
          <p:cNvPr id="8" name="AutoShape 8"/>
          <p:cNvSpPr/>
          <p:nvPr/>
        </p:nvSpPr>
        <p:spPr>
          <a:xfrm>
            <a:off x="1016000" y="2286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0A4AE"/>
                </a:solidFill>
                <a:latin typeface="Noto Sans SC"/>
                <a:ea typeface="Noto Sans SC"/>
                <a:cs typeface="Noto Sans SC"/>
                <a:sym typeface="Noto Sans SC"/>
              </a:rPr>
              <a:t>Time Coverage:</a:t>
            </a:r>
            <a:r>
              <a:rPr lang="en-US" sz="1200" b="0" i="0" u="none" strike="noStrike">
                <a:solidFill>
                  <a:srgbClr val="37474F"/>
                </a:solidFill>
                <a:latin typeface="Noto Sans SC"/>
                <a:ea typeface="Noto Sans SC"/>
                <a:cs typeface="Noto Sans SC"/>
                <a:sym typeface="Noto Sans SC"/>
              </a:rPr>
              <a:t>November 2025 - February 2026 (4 full months)</a:t>
            </a:r>
            <a:endParaRPr lang="en-US" sz="1100"/>
          </a:p>
        </p:txBody>
      </p:sp>
      <p:sp>
        <p:nvSpPr>
          <p:cNvPr id="9" name="AutoShape 9"/>
          <p:cNvSpPr/>
          <p:nvPr/>
        </p:nvSpPr>
        <p:spPr>
          <a:xfrm>
            <a:off x="1016000" y="2603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0A4AE"/>
                </a:solidFill>
                <a:latin typeface="Noto Sans SC"/>
                <a:ea typeface="Noto Sans SC"/>
                <a:cs typeface="Noto Sans SC"/>
                <a:sym typeface="Noto Sans SC"/>
              </a:rPr>
              <a:t>File Composition:</a:t>
            </a:r>
            <a:r>
              <a:rPr lang="en-US" sz="1200" b="0" i="0" u="none" strike="noStrike">
                <a:solidFill>
                  <a:srgbClr val="37474F"/>
                </a:solidFill>
                <a:latin typeface="Noto Sans SC"/>
                <a:ea typeface="Noto Sans SC"/>
                <a:cs typeface="Noto Sans SC"/>
                <a:sym typeface="Noto Sans SC"/>
              </a:rPr>
              <a:t>8 datasets (4 for IT, 4 for Finance)</a:t>
            </a:r>
            <a:endParaRPr lang="en-US" sz="1100"/>
          </a:p>
        </p:txBody>
      </p:sp>
      <p:graphicFrame>
        <p:nvGraphicFramePr>
          <p:cNvPr id="10" name="Table 10"/>
          <p:cNvGraphicFramePr>
            <a:graphicFrameLocks noGrp="1"/>
          </p:cNvGraphicFramePr>
          <p:nvPr>
            <p:extLst>
              <p:ext uri="{D42A27DB-BD31-4B8C-83A1-F6EECF244321}">
                <p14:modId xmlns:p14="http://schemas.microsoft.com/office/powerpoint/2010/main" val="1881242209"/>
              </p:ext>
            </p:extLst>
          </p:nvPr>
        </p:nvGraphicFramePr>
        <p:xfrm>
          <a:off x="1016000" y="3048000"/>
          <a:ext cx="4572000" cy="22479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tblGrid>
              <a:tr h="561975">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Industry Type</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Record Count</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Field Count</a:t>
                      </a:r>
                      <a:endParaRPr lang="en-US" sz="1100"/>
                    </a:p>
                  </a:txBody>
                  <a:tcPr marL="101600" marR="101600" marT="101600" marB="101600">
                    <a:lnL>
                      <a:noFill/>
                    </a:lnL>
                    <a:lnR>
                      <a:noFill/>
                    </a:lnR>
                    <a:lnT>
                      <a:noFill/>
                    </a:lnT>
                    <a:lnB>
                      <a:noFill/>
                    </a:lnB>
                    <a:solidFill>
                      <a:srgbClr val="BBDEFB">
                        <a:alpha val="100000"/>
                      </a:srgbClr>
                    </a:solidFill>
                  </a:tcPr>
                </a:tc>
                <a:extLst>
                  <a:ext uri="{0D108BD9-81ED-4DB2-BD59-A6C34878D82A}">
                    <a16:rowId xmlns:a16="http://schemas.microsoft.com/office/drawing/2014/main" val="10000"/>
                  </a:ext>
                </a:extLst>
              </a:tr>
              <a:tr h="561975">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IT</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1,376</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38</a:t>
                      </a:r>
                      <a:endParaRPr lang="en-US" sz="110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1"/>
                  </a:ext>
                </a:extLst>
              </a:tr>
              <a:tr h="561975">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Finance</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1,250</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400" b="0" i="0" u="none" strike="noStrike">
                          <a:solidFill>
                            <a:srgbClr val="37474F"/>
                          </a:solidFill>
                          <a:latin typeface="Noto Sans SC"/>
                          <a:ea typeface="Noto Sans SC"/>
                          <a:cs typeface="Noto Sans SC"/>
                          <a:sym typeface="Noto Sans SC"/>
                        </a:rPr>
                        <a:t>38</a:t>
                      </a:r>
                      <a:endParaRPr lang="en-US" sz="1100"/>
                    </a:p>
                  </a:txBody>
                  <a:tcPr marL="1016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561975">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Total</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400" b="1" i="0" u="none" strike="noStrike">
                          <a:solidFill>
                            <a:srgbClr val="0D47A1"/>
                          </a:solidFill>
                          <a:latin typeface="Noto Sans SC"/>
                          <a:ea typeface="Noto Sans SC"/>
                          <a:cs typeface="Noto Sans SC"/>
                          <a:sym typeface="Noto Sans SC"/>
                        </a:rPr>
                        <a:t>2,626</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400" b="1" i="0" u="none" strike="noStrike" dirty="0">
                          <a:solidFill>
                            <a:srgbClr val="0D47A1"/>
                          </a:solidFill>
                          <a:latin typeface="Noto Sans SC"/>
                          <a:ea typeface="Noto Sans SC"/>
                          <a:cs typeface="Noto Sans SC"/>
                          <a:sym typeface="Noto Sans SC"/>
                        </a:rPr>
                        <a:t>38</a:t>
                      </a:r>
                      <a:endParaRPr lang="en-US" sz="1100" dirty="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3"/>
                  </a:ext>
                </a:extLst>
              </a:tr>
            </a:tbl>
          </a:graphicData>
        </a:graphic>
      </p:graphicFrame>
      <p:sp>
        <p:nvSpPr>
          <p:cNvPr id="11" name="AutoShape 11"/>
          <p:cNvSpPr/>
          <p:nvPr/>
        </p:nvSpPr>
        <p:spPr>
          <a:xfrm>
            <a:off x="6350000" y="1270000"/>
            <a:ext cx="5080000" cy="4572000"/>
          </a:xfrm>
          <a:prstGeom prst="roundRect">
            <a:avLst>
              <a:gd name="adj" fmla="val 2777"/>
            </a:avLst>
          </a:prstGeom>
          <a:solidFill>
            <a:srgbClr val="FFFFFF">
              <a:alpha val="90000"/>
            </a:srgbClr>
          </a:solidFill>
          <a:ln w="25400" cap="flat" cmpd="sng">
            <a:noFill/>
            <a:prstDash val="solid"/>
            <a:round/>
          </a:ln>
          <a:effectLst>
            <a:outerShdw blurRad="127000" dist="50800" dir="5400000" algn="tl" rotWithShape="0">
              <a:srgbClr val="0D47A1">
                <a:alpha val="15000"/>
              </a:srgbClr>
            </a:outerShdw>
          </a:effectLst>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498600"/>
            <a:ext cx="304800" cy="304800"/>
          </a:xfrm>
          <a:prstGeom prst="rect">
            <a:avLst/>
          </a:prstGeom>
        </p:spPr>
      </p:pic>
      <p:sp>
        <p:nvSpPr>
          <p:cNvPr id="13" name="AutoShape 13"/>
          <p:cNvSpPr/>
          <p:nvPr/>
        </p:nvSpPr>
        <p:spPr>
          <a:xfrm>
            <a:off x="6985000" y="1460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47A1"/>
                </a:solidFill>
                <a:latin typeface="Noto Sans SC"/>
                <a:ea typeface="Noto Sans SC"/>
                <a:cs typeface="Noto Sans SC"/>
                <a:sym typeface="Noto Sans SC"/>
              </a:rPr>
              <a:t>Data Quality Analysis</a:t>
            </a:r>
            <a:endParaRPr lang="en-US" sz="1100"/>
          </a:p>
        </p:txBody>
      </p:sp>
      <p:sp>
        <p:nvSpPr>
          <p:cNvPr id="14" name="AutoShape 14"/>
          <p:cNvSpPr/>
          <p:nvPr/>
        </p:nvSpPr>
        <p:spPr>
          <a:xfrm>
            <a:off x="6604000" y="19685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0A4AE"/>
                </a:solidFill>
                <a:latin typeface="Noto Sans SC"/>
                <a:ea typeface="Noto Sans SC"/>
                <a:cs typeface="Noto Sans SC"/>
                <a:sym typeface="Noto Sans SC"/>
              </a:rPr>
              <a:t>Missing Value Statistics of Core Fields:</a:t>
            </a:r>
            <a:endParaRPr lang="en-US" sz="1100"/>
          </a:p>
        </p:txBody>
      </p:sp>
      <p:graphicFrame>
        <p:nvGraphicFramePr>
          <p:cNvPr id="15" name="Table 15"/>
          <p:cNvGraphicFramePr>
            <a:graphicFrameLocks noGrp="1"/>
          </p:cNvGraphicFramePr>
          <p:nvPr/>
        </p:nvGraphicFramePr>
        <p:xfrm>
          <a:off x="6604000" y="2286000"/>
          <a:ext cx="4572000" cy="160528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tblGrid>
              <a:tr h="355600">
                <a:tc>
                  <a:txBody>
                    <a:bodyPr/>
                    <a:lstStyle/>
                    <a:p>
                      <a:pPr indent="0" algn="ctr">
                        <a:lnSpc>
                          <a:spcPct val="100000"/>
                        </a:lnSpc>
                        <a:defRPr/>
                      </a:pPr>
                      <a:r>
                        <a:rPr lang="en-US" sz="1300" b="1" i="0" u="none" strike="noStrike">
                          <a:solidFill>
                            <a:srgbClr val="0D47A1"/>
                          </a:solidFill>
                          <a:latin typeface="Noto Sans SC"/>
                          <a:ea typeface="Noto Sans SC"/>
                          <a:cs typeface="Noto Sans SC"/>
                          <a:sym typeface="Noto Sans SC"/>
                        </a:rPr>
                        <a:t>Field Name</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300" b="1" i="0" u="none" strike="noStrike">
                          <a:solidFill>
                            <a:srgbClr val="0D47A1"/>
                          </a:solidFill>
                          <a:latin typeface="Noto Sans SC"/>
                          <a:ea typeface="Noto Sans SC"/>
                          <a:cs typeface="Noto Sans SC"/>
                          <a:sym typeface="Noto Sans SC"/>
                        </a:rPr>
                        <a:t>Missing Count</a:t>
                      </a:r>
                      <a:endParaRPr lang="en-US" sz="1100"/>
                    </a:p>
                  </a:txBody>
                  <a:tcPr marL="101600" marR="101600" marT="101600" marB="101600">
                    <a:lnL>
                      <a:noFill/>
                    </a:lnL>
                    <a:lnR>
                      <a:noFill/>
                    </a:lnR>
                    <a:lnT>
                      <a:noFill/>
                    </a:lnT>
                    <a:lnB>
                      <a:noFill/>
                    </a:lnB>
                    <a:solidFill>
                      <a:srgbClr val="BBDEFB">
                        <a:alpha val="100000"/>
                      </a:srgbClr>
                    </a:solidFill>
                  </a:tcPr>
                </a:tc>
                <a:tc>
                  <a:txBody>
                    <a:bodyPr/>
                    <a:lstStyle/>
                    <a:p>
                      <a:pPr indent="0" algn="ctr">
                        <a:lnSpc>
                          <a:spcPct val="100000"/>
                        </a:lnSpc>
                        <a:defRPr/>
                      </a:pPr>
                      <a:r>
                        <a:rPr lang="en-US" sz="1300" b="1" i="0" u="none" strike="noStrike">
                          <a:solidFill>
                            <a:srgbClr val="0D47A1"/>
                          </a:solidFill>
                          <a:latin typeface="Noto Sans SC"/>
                          <a:ea typeface="Noto Sans SC"/>
                          <a:cs typeface="Noto Sans SC"/>
                          <a:sym typeface="Noto Sans SC"/>
                        </a:rPr>
                        <a:t>Missing Rate</a:t>
                      </a:r>
                      <a:endParaRPr lang="en-US" sz="1100"/>
                    </a:p>
                  </a:txBody>
                  <a:tcPr marL="101600" marR="101600" marT="101600" marB="101600">
                    <a:lnL>
                      <a:noFill/>
                    </a:lnL>
                    <a:lnR>
                      <a:noFill/>
                    </a:lnR>
                    <a:lnT>
                      <a:noFill/>
                    </a:lnT>
                    <a:lnB>
                      <a:noFill/>
                    </a:lnB>
                    <a:solidFill>
                      <a:srgbClr val="BBDEFB">
                        <a:alpha val="100000"/>
                      </a:srgbClr>
                    </a:solidFill>
                  </a:tcPr>
                </a:tc>
                <a:extLst>
                  <a:ext uri="{0D108BD9-81ED-4DB2-BD59-A6C34878D82A}">
                    <a16:rowId xmlns:a16="http://schemas.microsoft.com/office/drawing/2014/main" val="10000"/>
                  </a:ext>
                </a:extLst>
              </a:tr>
              <a:tr h="355600">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salary</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2,512</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300" b="1" i="0" u="none" strike="noStrike">
                          <a:solidFill>
                            <a:srgbClr val="D81B60"/>
                          </a:solidFill>
                          <a:latin typeface="Noto Sans SC"/>
                          <a:ea typeface="Noto Sans SC"/>
                          <a:cs typeface="Noto Sans SC"/>
                          <a:sym typeface="Noto Sans SC"/>
                        </a:rPr>
                        <a:t>95.7%</a:t>
                      </a:r>
                      <a:endParaRPr lang="en-US" sz="110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1"/>
                  </a:ext>
                </a:extLst>
              </a:tr>
              <a:tr h="355600">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location</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0</a:t>
                      </a:r>
                      <a:endParaRPr lang="en-US" sz="1100"/>
                    </a:p>
                  </a:txBody>
                  <a:tcPr marL="101600" marR="101600" marT="101600" marB="101600">
                    <a:lnL>
                      <a:noFill/>
                    </a:lnL>
                    <a:lnR>
                      <a:noFill/>
                    </a:lnR>
                    <a:lnT>
                      <a:noFill/>
                    </a:lnT>
                    <a:lnB>
                      <a:noFill/>
                    </a:lnB>
                    <a:solidFill>
                      <a:srgbClr val="FFFFFF">
                        <a:alpha val="100000"/>
                      </a:srgbClr>
                    </a:solidFill>
                  </a:tcPr>
                </a:tc>
                <a:tc>
                  <a:txBody>
                    <a:bodyPr/>
                    <a:lstStyle/>
                    <a:p>
                      <a:pPr indent="0" algn="ctr">
                        <a:lnSpc>
                          <a:spcPct val="100000"/>
                        </a:lnSpc>
                        <a:defRPr/>
                      </a:pPr>
                      <a:r>
                        <a:rPr lang="en-US" sz="1300" b="1" i="0" u="none" strike="noStrike">
                          <a:solidFill>
                            <a:srgbClr val="388E3C"/>
                          </a:solidFill>
                          <a:latin typeface="Noto Sans SC"/>
                          <a:ea typeface="Noto Sans SC"/>
                          <a:cs typeface="Noto Sans SC"/>
                          <a:sym typeface="Noto Sans SC"/>
                        </a:rPr>
                        <a:t>0%</a:t>
                      </a:r>
                      <a:endParaRPr lang="en-US" sz="1100"/>
                    </a:p>
                  </a:txBody>
                  <a:tcPr marL="101600" marR="101600" marT="101600" marB="101600">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r h="355600">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listedAt</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300" b="0" i="0" u="none" strike="noStrike">
                          <a:solidFill>
                            <a:srgbClr val="37474F"/>
                          </a:solidFill>
                          <a:latin typeface="Noto Sans SC"/>
                          <a:ea typeface="Noto Sans SC"/>
                          <a:cs typeface="Noto Sans SC"/>
                          <a:sym typeface="Noto Sans SC"/>
                        </a:rPr>
                        <a:t>0</a:t>
                      </a:r>
                      <a:endParaRPr lang="en-US" sz="1100"/>
                    </a:p>
                  </a:txBody>
                  <a:tcPr marL="101600" marR="101600" marT="101600" marB="101600">
                    <a:lnL>
                      <a:noFill/>
                    </a:lnL>
                    <a:lnR>
                      <a:noFill/>
                    </a:lnR>
                    <a:lnT>
                      <a:noFill/>
                    </a:lnT>
                    <a:lnB>
                      <a:noFill/>
                    </a:lnB>
                    <a:solidFill>
                      <a:srgbClr val="ECF3FF">
                        <a:alpha val="100000"/>
                      </a:srgbClr>
                    </a:solidFill>
                  </a:tcPr>
                </a:tc>
                <a:tc>
                  <a:txBody>
                    <a:bodyPr/>
                    <a:lstStyle/>
                    <a:p>
                      <a:pPr indent="0" algn="ctr">
                        <a:lnSpc>
                          <a:spcPct val="100000"/>
                        </a:lnSpc>
                        <a:defRPr/>
                      </a:pPr>
                      <a:r>
                        <a:rPr lang="en-US" sz="1300" b="1" i="0" u="none" strike="noStrike">
                          <a:solidFill>
                            <a:srgbClr val="388E3C"/>
                          </a:solidFill>
                          <a:latin typeface="Noto Sans SC"/>
                          <a:ea typeface="Noto Sans SC"/>
                          <a:cs typeface="Noto Sans SC"/>
                          <a:sym typeface="Noto Sans SC"/>
                        </a:rPr>
                        <a:t>0%</a:t>
                      </a:r>
                      <a:endParaRPr lang="en-US" sz="1100"/>
                    </a:p>
                  </a:txBody>
                  <a:tcPr marL="101600" marR="101600" marT="101600" marB="101600">
                    <a:lnL>
                      <a:noFill/>
                    </a:lnL>
                    <a:lnR>
                      <a:noFill/>
                    </a:lnR>
                    <a:lnT>
                      <a:noFill/>
                    </a:lnT>
                    <a:lnB>
                      <a:noFill/>
                    </a:lnB>
                    <a:solidFill>
                      <a:srgbClr val="ECF3FF">
                        <a:alpha val="100000"/>
                      </a:srgbClr>
                    </a:solidFill>
                  </a:tcPr>
                </a:tc>
                <a:extLst>
                  <a:ext uri="{0D108BD9-81ED-4DB2-BD59-A6C34878D82A}">
                    <a16:rowId xmlns:a16="http://schemas.microsoft.com/office/drawing/2014/main" val="10003"/>
                  </a:ext>
                </a:extLst>
              </a:tr>
            </a:tbl>
          </a:graphicData>
        </a:graphic>
      </p:graphicFrame>
      <p:sp>
        <p:nvSpPr>
          <p:cNvPr id="16" name="AutoShape 16"/>
          <p:cNvSpPr/>
          <p:nvPr/>
        </p:nvSpPr>
        <p:spPr>
          <a:xfrm>
            <a:off x="6604000" y="3683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90A4AE"/>
                </a:solidFill>
                <a:latin typeface="Noto Sans SC"/>
                <a:ea typeface="Noto Sans SC"/>
                <a:cs typeface="Noto Sans SC"/>
                <a:sym typeface="Noto Sans SC"/>
              </a:rPr>
              <a:t>Outlier Check:</a:t>
            </a:r>
            <a:endParaRPr lang="en-US" sz="1100"/>
          </a:p>
        </p:txBody>
      </p:sp>
      <p:sp>
        <p:nvSpPr>
          <p:cNvPr id="17" name="AutoShape 17"/>
          <p:cNvSpPr/>
          <p:nvPr/>
        </p:nvSpPr>
        <p:spPr>
          <a:xfrm>
            <a:off x="6604000" y="4000500"/>
            <a:ext cx="4572000" cy="508000"/>
          </a:xfrm>
          <a:prstGeom prst="roundRect">
            <a:avLst>
              <a:gd name="adj" fmla="val 12500"/>
            </a:avLst>
          </a:prstGeom>
          <a:solidFill>
            <a:srgbClr val="ECF3F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4152900"/>
            <a:ext cx="203200" cy="203200"/>
          </a:xfrm>
          <a:prstGeom prst="rect">
            <a:avLst/>
          </a:prstGeom>
        </p:spPr>
      </p:pic>
      <p:sp>
        <p:nvSpPr>
          <p:cNvPr id="19" name="AutoShape 19"/>
          <p:cNvSpPr/>
          <p:nvPr/>
        </p:nvSpPr>
        <p:spPr>
          <a:xfrm>
            <a:off x="6985000" y="4089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74F"/>
                </a:solidFill>
                <a:latin typeface="Noto Sans SC"/>
                <a:ea typeface="Noto Sans SC"/>
                <a:cs typeface="Noto Sans SC"/>
                <a:sym typeface="Noto Sans SC"/>
              </a:rPr>
              <a:t>Time Anomalies:</a:t>
            </a:r>
            <a:r>
              <a:rPr lang="en-US" sz="1100" b="0" i="0" u="none" strike="noStrike">
                <a:solidFill>
                  <a:srgbClr val="37474F"/>
                </a:solidFill>
                <a:latin typeface="Noto Sans SC"/>
                <a:ea typeface="Noto Sans SC"/>
                <a:cs typeface="Noto Sans SC"/>
                <a:sym typeface="Noto Sans SC"/>
              </a:rPr>
              <a:t>None, all records are within the specified time range.</a:t>
            </a:r>
            <a:endParaRPr lang="en-US" sz="1100"/>
          </a:p>
        </p:txBody>
      </p:sp>
      <p:sp>
        <p:nvSpPr>
          <p:cNvPr id="20" name="AutoShape 20"/>
          <p:cNvSpPr/>
          <p:nvPr/>
        </p:nvSpPr>
        <p:spPr>
          <a:xfrm>
            <a:off x="6604000" y="4572000"/>
            <a:ext cx="4572000" cy="508000"/>
          </a:xfrm>
          <a:prstGeom prst="roundRect">
            <a:avLst>
              <a:gd name="adj" fmla="val 12500"/>
            </a:avLst>
          </a:prstGeom>
          <a:solidFill>
            <a:srgbClr val="ECF3F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4724400"/>
            <a:ext cx="203200" cy="203200"/>
          </a:xfrm>
          <a:prstGeom prst="rect">
            <a:avLst/>
          </a:prstGeom>
        </p:spPr>
      </p:pic>
      <p:sp>
        <p:nvSpPr>
          <p:cNvPr id="22" name="AutoShape 22"/>
          <p:cNvSpPr/>
          <p:nvPr/>
        </p:nvSpPr>
        <p:spPr>
          <a:xfrm>
            <a:off x="6985000" y="46609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74F"/>
                </a:solidFill>
                <a:latin typeface="Noto Sans SC"/>
                <a:ea typeface="Noto Sans SC"/>
                <a:cs typeface="Noto Sans SC"/>
                <a:sym typeface="Noto Sans SC"/>
              </a:rPr>
              <a:t>Category Anomalies:</a:t>
            </a:r>
            <a:r>
              <a:rPr lang="en-US" sz="1100" b="0" i="0" u="none" strike="noStrike">
                <a:solidFill>
                  <a:srgbClr val="37474F"/>
                </a:solidFill>
                <a:latin typeface="Noto Sans SC"/>
                <a:ea typeface="Noto Sans SC"/>
                <a:cs typeface="Noto Sans SC"/>
                <a:sym typeface="Noto Sans SC"/>
              </a:rPr>
              <a:t>None, location and classification fields are standardized and valid.</a:t>
            </a:r>
            <a:endParaRPr lang="en-US" sz="1100"/>
          </a:p>
        </p:txBody>
      </p:sp>
      <p:sp>
        <p:nvSpPr>
          <p:cNvPr id="23" name="AutoShape 23"/>
          <p:cNvSpPr/>
          <p:nvPr/>
        </p:nvSpPr>
        <p:spPr>
          <a:xfrm>
            <a:off x="6604000" y="5143500"/>
            <a:ext cx="4572000" cy="508000"/>
          </a:xfrm>
          <a:prstGeom prst="roundRect">
            <a:avLst>
              <a:gd name="adj" fmla="val 12500"/>
            </a:avLst>
          </a:prstGeom>
          <a:solidFill>
            <a:srgbClr val="ECF3FF">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5295900"/>
            <a:ext cx="203200" cy="203200"/>
          </a:xfrm>
          <a:prstGeom prst="rect">
            <a:avLst/>
          </a:prstGeom>
        </p:spPr>
      </p:pic>
      <p:sp>
        <p:nvSpPr>
          <p:cNvPr id="25" name="AutoShape 25"/>
          <p:cNvSpPr/>
          <p:nvPr/>
        </p:nvSpPr>
        <p:spPr>
          <a:xfrm>
            <a:off x="6985000" y="5232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7474F"/>
                </a:solidFill>
                <a:latin typeface="Noto Sans SC"/>
                <a:ea typeface="Noto Sans SC"/>
                <a:cs typeface="Noto Sans SC"/>
                <a:sym typeface="Noto Sans SC"/>
              </a:rPr>
              <a:t>Salary Anomalies:</a:t>
            </a:r>
            <a:r>
              <a:rPr lang="en-US" sz="1100" b="0" i="0" u="none" strike="noStrike">
                <a:solidFill>
                  <a:srgbClr val="37474F"/>
                </a:solidFill>
                <a:latin typeface="Noto Sans SC"/>
                <a:ea typeface="Noto Sans SC"/>
                <a:cs typeface="Noto Sans SC"/>
                <a:sym typeface="Noto Sans SC"/>
              </a:rPr>
              <a:t>For positions with clear salary records, the range is in line with market levels with no extreme values.</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530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D47A1"/>
                </a:solidFill>
                <a:latin typeface="Noto Sans SC"/>
                <a:ea typeface="Noto Sans SC"/>
                <a:cs typeface="Noto Sans SC"/>
                <a:sym typeface="Noto Sans SC"/>
              </a:rPr>
              <a:t>Data Distribution and Summary</a:t>
            </a:r>
            <a:endParaRPr lang="en-US" sz="1100"/>
          </a:p>
        </p:txBody>
      </p:sp>
      <p:sp>
        <p:nvSpPr>
          <p:cNvPr id="5" name="AutoShape 5"/>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47A1"/>
                </a:solidFill>
                <a:latin typeface="Noto Sans SC"/>
                <a:ea typeface="Noto Sans SC"/>
                <a:cs typeface="Noto Sans SC"/>
                <a:sym typeface="Noto Sans SC"/>
              </a:rPr>
              <a:t>▍Basic Data Distribution Overview</a:t>
            </a:r>
            <a:endParaRPr lang="en-US" sz="1100" dirty="0"/>
          </a:p>
        </p:txBody>
      </p:sp>
      <p:sp>
        <p:nvSpPr>
          <p:cNvPr id="6" name="AutoShape 6"/>
          <p:cNvSpPr/>
          <p:nvPr/>
        </p:nvSpPr>
        <p:spPr>
          <a:xfrm>
            <a:off x="762000" y="1714500"/>
            <a:ext cx="3429000" cy="1397000"/>
          </a:xfrm>
          <a:prstGeom prst="roundRect">
            <a:avLst>
              <a:gd name="adj" fmla="val 9090"/>
            </a:avLst>
          </a:prstGeom>
          <a:solidFill>
            <a:srgbClr val="FFFFFF">
              <a:alpha val="100000"/>
            </a:srgbClr>
          </a:solidFill>
          <a:ln w="12700" cap="flat" cmpd="sng">
            <a:solidFill>
              <a:srgbClr val="BBDEFB">
                <a:alpha val="100000"/>
              </a:srgbClr>
            </a:solidFill>
            <a:prstDash val="solid"/>
            <a:round/>
          </a:ln>
          <a:effectLst>
            <a:outerShdw blurRad="127000" dist="50800" dir="5400000" algn="tl" rotWithShape="0">
              <a:srgbClr val="0D47A1">
                <a:alpha val="10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905000"/>
            <a:ext cx="406400" cy="406400"/>
          </a:xfrm>
          <a:prstGeom prst="rect">
            <a:avLst/>
          </a:prstGeom>
        </p:spPr>
      </p:pic>
      <p:sp>
        <p:nvSpPr>
          <p:cNvPr id="8" name="AutoShape 8"/>
          <p:cNvSpPr/>
          <p:nvPr/>
        </p:nvSpPr>
        <p:spPr>
          <a:xfrm>
            <a:off x="1460500" y="1879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Industry &amp; Time Distribution</a:t>
            </a:r>
            <a:endParaRPr lang="en-US" sz="1100"/>
          </a:p>
        </p:txBody>
      </p:sp>
      <p:sp>
        <p:nvSpPr>
          <p:cNvPr id="9" name="AutoShape 9"/>
          <p:cNvSpPr/>
          <p:nvPr/>
        </p:nvSpPr>
        <p:spPr>
          <a:xfrm>
            <a:off x="952500" y="2286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55A64"/>
                </a:solidFill>
                <a:latin typeface="Noto Sans SC"/>
                <a:ea typeface="Noto Sans SC"/>
                <a:cs typeface="Noto Sans SC"/>
                <a:sym typeface="Noto Sans SC"/>
              </a:rPr>
              <a:t>IT and Finance industries have similar recruitment scales, with overall recruitment volume showing a quarterly upward trend.</a:t>
            </a:r>
            <a:endParaRPr lang="en-US" sz="1100"/>
          </a:p>
        </p:txBody>
      </p:sp>
      <p:sp>
        <p:nvSpPr>
          <p:cNvPr id="10" name="AutoShape 10"/>
          <p:cNvSpPr/>
          <p:nvPr/>
        </p:nvSpPr>
        <p:spPr>
          <a:xfrm>
            <a:off x="4381500" y="1714500"/>
            <a:ext cx="3429000" cy="1397000"/>
          </a:xfrm>
          <a:prstGeom prst="roundRect">
            <a:avLst>
              <a:gd name="adj" fmla="val 9090"/>
            </a:avLst>
          </a:prstGeom>
          <a:solidFill>
            <a:srgbClr val="FFFFFF">
              <a:alpha val="100000"/>
            </a:srgbClr>
          </a:solidFill>
          <a:ln w="12700" cap="flat" cmpd="sng">
            <a:solidFill>
              <a:srgbClr val="BBDEFB">
                <a:alpha val="100000"/>
              </a:srgbClr>
            </a:solidFill>
            <a:prstDash val="solid"/>
            <a:round/>
          </a:ln>
          <a:effectLst>
            <a:outerShdw blurRad="127000" dist="50800" dir="5400000" algn="tl" rotWithShape="0">
              <a:srgbClr val="0D47A1">
                <a:alpha val="10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1905000"/>
            <a:ext cx="406400" cy="406400"/>
          </a:xfrm>
          <a:prstGeom prst="rect">
            <a:avLst/>
          </a:prstGeom>
        </p:spPr>
      </p:pic>
      <p:sp>
        <p:nvSpPr>
          <p:cNvPr id="12" name="AutoShape 12"/>
          <p:cNvSpPr/>
          <p:nvPr/>
        </p:nvSpPr>
        <p:spPr>
          <a:xfrm>
            <a:off x="5080000" y="1879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Employment Type Distribution</a:t>
            </a:r>
            <a:endParaRPr lang="en-US" sz="1100"/>
          </a:p>
        </p:txBody>
      </p:sp>
      <p:sp>
        <p:nvSpPr>
          <p:cNvPr id="13" name="AutoShape 13"/>
          <p:cNvSpPr/>
          <p:nvPr/>
        </p:nvSpPr>
        <p:spPr>
          <a:xfrm>
            <a:off x="4572000" y="2286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55A64"/>
                </a:solidFill>
                <a:latin typeface="Noto Sans SC"/>
                <a:ea typeface="Noto Sans SC"/>
                <a:cs typeface="Noto Sans SC"/>
                <a:sym typeface="Noto Sans SC"/>
              </a:rPr>
              <a:t>Full-time positions are absolutely dominant, accounting for as high as</a:t>
            </a:r>
            <a:r>
              <a:rPr lang="en-US" sz="1200" b="1" i="0" u="none" strike="noStrike">
                <a:solidFill>
                  <a:srgbClr val="0D47A1"/>
                </a:solidFill>
                <a:latin typeface="Noto Sans SC"/>
                <a:ea typeface="Noto Sans SC"/>
                <a:cs typeface="Noto Sans SC"/>
                <a:sym typeface="Noto Sans SC"/>
              </a:rPr>
              <a:t>97.6%</a:t>
            </a:r>
            <a:r>
              <a:rPr lang="en-US" sz="1200" b="0" i="0" u="none" strike="noStrike">
                <a:solidFill>
                  <a:srgbClr val="455A64"/>
                </a:solidFill>
                <a:latin typeface="Noto Sans SC"/>
                <a:ea typeface="Noto Sans SC"/>
                <a:cs typeface="Noto Sans SC"/>
                <a:sym typeface="Noto Sans SC"/>
              </a:rPr>
              <a:t>, with part-time and other types accounting for a small proportion.</a:t>
            </a:r>
            <a:endParaRPr lang="en-US" sz="1100"/>
          </a:p>
        </p:txBody>
      </p:sp>
      <p:sp>
        <p:nvSpPr>
          <p:cNvPr id="14" name="AutoShape 14"/>
          <p:cNvSpPr/>
          <p:nvPr/>
        </p:nvSpPr>
        <p:spPr>
          <a:xfrm>
            <a:off x="8001000" y="1714500"/>
            <a:ext cx="3429000" cy="1397000"/>
          </a:xfrm>
          <a:prstGeom prst="roundRect">
            <a:avLst>
              <a:gd name="adj" fmla="val 9090"/>
            </a:avLst>
          </a:prstGeom>
          <a:solidFill>
            <a:srgbClr val="FFFFFF">
              <a:alpha val="100000"/>
            </a:srgbClr>
          </a:solidFill>
          <a:ln w="12700" cap="flat" cmpd="sng">
            <a:solidFill>
              <a:srgbClr val="BBDEFB">
                <a:alpha val="100000"/>
              </a:srgbClr>
            </a:solidFill>
            <a:prstDash val="solid"/>
            <a:round/>
          </a:ln>
          <a:effectLst>
            <a:outerShdw blurRad="127000" dist="50800" dir="5400000" algn="tl" rotWithShape="0">
              <a:srgbClr val="0D47A1">
                <a:alpha val="10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1905000"/>
            <a:ext cx="406400" cy="406400"/>
          </a:xfrm>
          <a:prstGeom prst="rect">
            <a:avLst/>
          </a:prstGeom>
        </p:spPr>
      </p:pic>
      <p:sp>
        <p:nvSpPr>
          <p:cNvPr id="16" name="AutoShape 16"/>
          <p:cNvSpPr/>
          <p:nvPr/>
        </p:nvSpPr>
        <p:spPr>
          <a:xfrm>
            <a:off x="8699500" y="1879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Work Location Distribution</a:t>
            </a:r>
            <a:endParaRPr lang="en-US" sz="1100"/>
          </a:p>
        </p:txBody>
      </p:sp>
      <p:sp>
        <p:nvSpPr>
          <p:cNvPr id="17" name="AutoShape 17"/>
          <p:cNvSpPr/>
          <p:nvPr/>
        </p:nvSpPr>
        <p:spPr>
          <a:xfrm>
            <a:off x="8191500" y="2286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55A64"/>
                </a:solidFill>
                <a:latin typeface="Noto Sans SC"/>
                <a:ea typeface="Noto Sans SC"/>
                <a:cs typeface="Noto Sans SC"/>
                <a:sym typeface="Noto Sans SC"/>
              </a:rPr>
              <a:t>Mainly concentrated in core business districts such as Central and Tsim Sha Tsui, with highly concentrated geographical locations.</a:t>
            </a:r>
            <a:endParaRPr lang="en-US" sz="1100"/>
          </a:p>
        </p:txBody>
      </p:sp>
      <p:sp>
        <p:nvSpPr>
          <p:cNvPr id="18" name="AutoShape 18"/>
          <p:cNvSpPr/>
          <p:nvPr/>
        </p:nvSpPr>
        <p:spPr>
          <a:xfrm>
            <a:off x="762000" y="3429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0D47A1"/>
                </a:solidFill>
                <a:latin typeface="Noto Sans SC"/>
                <a:ea typeface="Noto Sans SC"/>
                <a:cs typeface="Noto Sans SC"/>
                <a:sym typeface="Noto Sans SC"/>
              </a:rPr>
              <a:t>▍Data Exploration Core Summary</a:t>
            </a:r>
            <a:endParaRPr lang="en-US" sz="1100" dirty="0"/>
          </a:p>
        </p:txBody>
      </p:sp>
      <p:sp>
        <p:nvSpPr>
          <p:cNvPr id="19" name="AutoShape 19"/>
          <p:cNvSpPr/>
          <p:nvPr/>
        </p:nvSpPr>
        <p:spPr>
          <a:xfrm>
            <a:off x="762000" y="3873500"/>
            <a:ext cx="3429000" cy="1397000"/>
          </a:xfrm>
          <a:prstGeom prst="roundRect">
            <a:avLst>
              <a:gd name="adj" fmla="val 9090"/>
            </a:avLst>
          </a:prstGeom>
          <a:solidFill>
            <a:srgbClr val="F0F7FF">
              <a:alpha val="100000"/>
            </a:srgbClr>
          </a:solidFill>
          <a:ln w="12700" cap="flat" cmpd="sng">
            <a:solidFill>
              <a:srgbClr val="0D47A1">
                <a:alpha val="2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4064000"/>
            <a:ext cx="355600" cy="355600"/>
          </a:xfrm>
          <a:prstGeom prst="rect">
            <a:avLst/>
          </a:prstGeom>
        </p:spPr>
      </p:pic>
      <p:sp>
        <p:nvSpPr>
          <p:cNvPr id="21" name="AutoShape 21"/>
          <p:cNvSpPr/>
          <p:nvPr/>
        </p:nvSpPr>
        <p:spPr>
          <a:xfrm>
            <a:off x="13970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Data Completeness</a:t>
            </a:r>
            <a:endParaRPr lang="en-US" sz="1100"/>
          </a:p>
        </p:txBody>
      </p:sp>
      <p:sp>
        <p:nvSpPr>
          <p:cNvPr id="22" name="AutoShape 22"/>
          <p:cNvSpPr/>
          <p:nvPr/>
        </p:nvSpPr>
        <p:spPr>
          <a:xfrm>
            <a:off x="952500" y="4445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55A64"/>
                </a:solidFill>
                <a:latin typeface="Noto Sans SC"/>
                <a:ea typeface="Noto Sans SC"/>
                <a:cs typeface="Noto Sans SC"/>
                <a:sym typeface="Noto Sans SC"/>
              </a:rPr>
              <a:t>Core business fields have high integrity; the lack of salary field does not affect major analysis dimensions.</a:t>
            </a:r>
            <a:endParaRPr lang="en-US" sz="1100"/>
          </a:p>
        </p:txBody>
      </p:sp>
      <p:sp>
        <p:nvSpPr>
          <p:cNvPr id="23" name="AutoShape 23"/>
          <p:cNvSpPr/>
          <p:nvPr/>
        </p:nvSpPr>
        <p:spPr>
          <a:xfrm>
            <a:off x="4381500" y="3873500"/>
            <a:ext cx="3429000" cy="1397000"/>
          </a:xfrm>
          <a:prstGeom prst="roundRect">
            <a:avLst>
              <a:gd name="adj" fmla="val 9090"/>
            </a:avLst>
          </a:prstGeom>
          <a:solidFill>
            <a:srgbClr val="F0F7FF">
              <a:alpha val="100000"/>
            </a:srgbClr>
          </a:solidFill>
          <a:ln w="12700" cap="flat" cmpd="sng">
            <a:solidFill>
              <a:srgbClr val="0D47A1">
                <a:alpha val="2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72000" y="4064000"/>
            <a:ext cx="355600" cy="355600"/>
          </a:xfrm>
          <a:prstGeom prst="rect">
            <a:avLst/>
          </a:prstGeom>
        </p:spPr>
      </p:pic>
      <p:sp>
        <p:nvSpPr>
          <p:cNvPr id="25" name="AutoShape 25"/>
          <p:cNvSpPr/>
          <p:nvPr/>
        </p:nvSpPr>
        <p:spPr>
          <a:xfrm>
            <a:off x="50165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Data Validity</a:t>
            </a:r>
            <a:endParaRPr lang="en-US" sz="1100"/>
          </a:p>
        </p:txBody>
      </p:sp>
      <p:sp>
        <p:nvSpPr>
          <p:cNvPr id="26" name="AutoShape 26"/>
          <p:cNvSpPr/>
          <p:nvPr/>
        </p:nvSpPr>
        <p:spPr>
          <a:xfrm>
            <a:off x="4572000" y="4445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55A64"/>
                </a:solidFill>
                <a:latin typeface="Noto Sans SC"/>
                <a:ea typeface="Noto Sans SC"/>
                <a:cs typeface="Noto Sans SC"/>
                <a:sym typeface="Noto Sans SC"/>
              </a:rPr>
              <a:t>Data quality is reliable with no obvious anomalies, supporting in-depth analysis.</a:t>
            </a:r>
            <a:endParaRPr lang="en-US" sz="1100"/>
          </a:p>
        </p:txBody>
      </p:sp>
      <p:sp>
        <p:nvSpPr>
          <p:cNvPr id="27" name="AutoShape 27"/>
          <p:cNvSpPr/>
          <p:nvPr/>
        </p:nvSpPr>
        <p:spPr>
          <a:xfrm>
            <a:off x="8001000" y="3873500"/>
            <a:ext cx="3429000" cy="1397000"/>
          </a:xfrm>
          <a:prstGeom prst="roundRect">
            <a:avLst>
              <a:gd name="adj" fmla="val 9090"/>
            </a:avLst>
          </a:prstGeom>
          <a:solidFill>
            <a:srgbClr val="F0F7FF">
              <a:alpha val="100000"/>
            </a:srgbClr>
          </a:solidFill>
          <a:ln w="12700" cap="flat" cmpd="sng">
            <a:solidFill>
              <a:srgbClr val="0D47A1">
                <a:alpha val="2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191500" y="4064000"/>
            <a:ext cx="355600" cy="355600"/>
          </a:xfrm>
          <a:prstGeom prst="rect">
            <a:avLst/>
          </a:prstGeom>
        </p:spPr>
      </p:pic>
      <p:sp>
        <p:nvSpPr>
          <p:cNvPr id="29" name="AutoShape 29"/>
          <p:cNvSpPr/>
          <p:nvPr/>
        </p:nvSpPr>
        <p:spPr>
          <a:xfrm>
            <a:off x="8636000" y="403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47A1"/>
                </a:solidFill>
                <a:latin typeface="Noto Sans SC"/>
                <a:ea typeface="Noto Sans SC"/>
                <a:cs typeface="Noto Sans SC"/>
                <a:sym typeface="Noto Sans SC"/>
              </a:rPr>
              <a:t>Data Characteristics</a:t>
            </a:r>
            <a:endParaRPr lang="en-US" sz="1100"/>
          </a:p>
        </p:txBody>
      </p:sp>
      <p:sp>
        <p:nvSpPr>
          <p:cNvPr id="30" name="AutoShape 30"/>
          <p:cNvSpPr/>
          <p:nvPr/>
        </p:nvSpPr>
        <p:spPr>
          <a:xfrm>
            <a:off x="8191500" y="4445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dirty="0">
                <a:solidFill>
                  <a:srgbClr val="455A64"/>
                </a:solidFill>
                <a:latin typeface="Noto Sans SC"/>
                <a:ea typeface="Noto Sans SC"/>
                <a:cs typeface="Noto Sans SC"/>
                <a:sym typeface="Noto Sans SC"/>
              </a:rPr>
              <a:t>Recruitment in Hong Kong's IT and Finance industries is dominated by full-time positions, concentrated in core business districts, with an upward trend in recruitment volume.</a:t>
            </a:r>
            <a:endParaRPr lang="en-US" sz="1100" dirty="0"/>
          </a:p>
        </p:txBody>
      </p:sp>
      <p:sp>
        <p:nvSpPr>
          <p:cNvPr id="31" name="AutoShape 31"/>
          <p:cNvSpPr/>
          <p:nvPr/>
        </p:nvSpPr>
        <p:spPr>
          <a:xfrm>
            <a:off x="0" y="6781800"/>
            <a:ext cx="12192000" cy="76200"/>
          </a:xfrm>
          <a:prstGeom prst="roundRect">
            <a:avLst>
              <a:gd name="adj" fmla="val 0"/>
            </a:avLst>
          </a:prstGeom>
          <a:solidFill>
            <a:srgbClr val="0D47A1">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606</Words>
  <Application>Microsoft Macintosh PowerPoint</Application>
  <PresentationFormat>宽屏</PresentationFormat>
  <Paragraphs>63</Paragraphs>
  <Slides>3</Slides>
  <Notes>3</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3</vt:i4>
      </vt:variant>
    </vt:vector>
  </HeadingPairs>
  <TitlesOfParts>
    <vt:vector size="7" baseType="lpstr">
      <vt:lpstr>Noto Sans SC</vt:lpstr>
      <vt:lpstr>Arial</vt:lpstr>
      <vt:lpstr>Office 主题​​</vt:lpstr>
      <vt:lpstr>默认主题</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LI Yingdong</cp:lastModifiedBy>
  <cp:revision>4</cp:revision>
  <dcterms:created xsi:type="dcterms:W3CDTF">2026-03-18T12:15:36Z</dcterms:created>
  <dcterms:modified xsi:type="dcterms:W3CDTF">2026-03-18T12:19:42Z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132937552A5D6EF76897BA691B1F8F4C_43</vt:lpwstr>
  </property>
  <property fmtid="{D5CDD505-2E9C-101B-9397-08002B2CF9AE}" pid="3" name="KSOProductBuildVer">
    <vt:lpwstr>2052-7.2.2.8955</vt:lpwstr>
  </property>
</Properties>
</file>